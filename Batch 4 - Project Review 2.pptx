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7" r:id="rId4"/>
    <p:sldId id="268" r:id="rId5"/>
    <p:sldId id="262" r:id="rId6"/>
    <p:sldId id="257" r:id="rId7"/>
    <p:sldId id="258" r:id="rId8"/>
    <p:sldId id="259" r:id="rId9"/>
    <p:sldId id="265" r:id="rId10"/>
    <p:sldId id="266" r:id="rId11"/>
    <p:sldId id="260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4057-B40E-7A6C-1757-AB47AE15B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77B46-E379-98C8-47A7-37629301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9702C-E786-1C7D-05CE-20ED1F20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15E01-6722-1C7E-3F6E-012E129C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85F7-0C08-3665-AF3B-EAA8500C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5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11A7-41A1-7D40-F334-7C7BFA3E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75A4-C642-B92B-DFB4-31792334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357D0-2300-FCF7-3A80-9E861679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A4764-596E-03B2-A630-E7D2C9D5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ADEB1-F5C9-8362-9E1F-CCCDC870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3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6FE8-2795-09AE-198B-8CCB0727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C0633-C12F-FBAE-B9B2-099762E99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27169-F061-3D68-9551-CB84C628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0E0E0-98E3-B95B-D567-D480BD13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3F41F-7ADB-E322-CE94-0F616D3B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1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D9EF-0996-4369-B1CE-CB99F0FA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7AE8-6479-C6B1-CBBF-6BDE89D33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03178-3350-01CC-90F9-17204885F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BF937-1DB5-ACFF-89F9-8B5B7F2F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98D91-C5D2-E939-72E0-1CB30F06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89E5D-5AE7-1727-677E-3A355E61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4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255C-9BD2-9422-9F08-3D7DC06B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2D974-3561-1E05-625F-8A081D77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C02DD-4D1C-388E-6439-8F5950EDB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50559-EC89-68B3-CA1E-9CF5202C0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3CC7C-69E7-9E09-5F47-C784C0820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D81F7-8ED1-3DB9-BE0E-DCEE49DB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F6013-E4E5-5347-2A52-30433A67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73FC5-2725-432E-99B6-B15EE68F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30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1061-EF71-23C1-2291-B3D90F60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67134-D982-5257-94DF-AF4CDD9B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12A3C-54B0-A630-745F-7973CC45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16A1F-6EC3-A358-B5FC-FB297F33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05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F5313-608C-32D4-E02E-A51EC89A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38061-ADCF-B4A1-76BA-58424A86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FE25-582B-47DB-7F01-E2136D53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6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978B-2A6F-662C-5B04-33C50590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93A5-F7CD-2ADF-3A0C-5FCB3959F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9ACE9-91DE-DDCF-DBE0-08EDA8A15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C472E-7B17-A87B-CC2E-830A51CE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DCE48-2561-8CDD-D664-EB06A0E5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F7CC0-5504-35AF-B450-90CF7E6D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0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78B8-4076-8F7B-9A14-2E0796469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A805A-190B-4552-01F5-F1E51919B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2017E-446A-3363-70E5-C604C1D79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37AAF-6D01-0BF1-82F3-C70E30CC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2A714-7E69-5DA4-58BD-8A779D28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52174-A962-C5E3-8E95-0445C7DB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1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169E-E665-D319-56A8-5F897E94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B2563-ADF6-FFDA-537B-7CA1BDBE6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810FC-AC94-DC32-CFF2-5A739E48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CFFBA-2304-5180-17C0-10923BDB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785F6-3C4D-EDD6-8B55-7714C75D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6D29B-95D1-3C69-5D18-FFC13FF6A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A7D3B-C68D-52AC-E3B2-BE60F800F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F4C74-218A-9CF1-3EA7-C35A16E5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8142-FE2D-7FAB-FC00-533DE774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E6EE1-7E09-5BAA-19C1-0B7A4F43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EC6F2-FE9D-21D5-7916-E74B3BB2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C9CA6-552D-423C-E2A8-30A8D5DB0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C1B76-E010-3AD6-3F92-61900DA82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1D384-B3BF-4E7F-98AF-E216A15C020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DAEDB-3928-37E9-3F7B-E1560160B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58DF-21F4-B50F-DB93-3FCF4C10F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F87A8-19B7-4246-BFA6-8481919F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5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6254CA-D255-4AC7-F042-EB2FAE90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79B66D-B42C-3FFA-6189-0DC5C593C213}"/>
              </a:ext>
            </a:extLst>
          </p:cNvPr>
          <p:cNvSpPr txBox="1"/>
          <p:nvPr/>
        </p:nvSpPr>
        <p:spPr>
          <a:xfrm>
            <a:off x="875071" y="1329978"/>
            <a:ext cx="972410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AI-Driven Multimodal Analytics for Sustainable Smart City Decision Intelligence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04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Pathi Sharmila-2420030042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Lakshman Angara-2420030067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Ivaturi Vennela-2420030185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Priya Kodali-2420030630</a:t>
            </a: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187BD-30A2-8F3B-80AC-303D6D38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3F9059-9437-C794-2C7E-CEE68F4DD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CB5EB0-9632-A24D-CB32-2EB5DC87C553}"/>
              </a:ext>
            </a:extLst>
          </p:cNvPr>
          <p:cNvSpPr txBox="1"/>
          <p:nvPr/>
        </p:nvSpPr>
        <p:spPr>
          <a:xfrm>
            <a:off x="2163097" y="304915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75C3E-A940-C1E6-F846-7606DBD45267}"/>
              </a:ext>
            </a:extLst>
          </p:cNvPr>
          <p:cNvSpPr txBox="1"/>
          <p:nvPr/>
        </p:nvSpPr>
        <p:spPr>
          <a:xfrm>
            <a:off x="796414" y="1228550"/>
            <a:ext cx="9969910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 &amp; Preparation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Air Quality, Weather and Energy Consumption datasets.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inspection of shape, data types, missing values, duplicates and statistical characteristics.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Dataset-specific cleaning, including handling missing values, duplicate records, invalid values and irrelevant attributes.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of cleaned datasets for further analysis.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Exploratory Data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to study distributions, frequencies and outliers.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to identify relationships between important variables.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to understand interactions among multiple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and heatmaps to identify relationships and redundant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graphs are saved for analysis and research-paper documentation.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</a:t>
            </a:r>
          </a:p>
          <a:p>
            <a:pPr lvl="0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meaningful domain-specific features from the cleaned datasets.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Quality: PM Ratio, NOx/NO2 Ratio, CO/CO2 Ratio, Pollution Score and Pollution Level.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Weather: Year, Month, Hour, Day of Week, Season, Temperature Difference and Wind-Chill Indicator.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Energy: Hour, Month, Weekend, HVAC Status, Lighting Status and energy-related indicators.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8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37E4-558D-6E1C-CA86-12FC8E0E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1E4A4C-D101-5210-97F6-FE202C66C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37DDBB-E611-3596-A1B1-42CC0D25D0F2}"/>
              </a:ext>
            </a:extLst>
          </p:cNvPr>
          <p:cNvSpPr txBox="1"/>
          <p:nvPr/>
        </p:nvSpPr>
        <p:spPr>
          <a:xfrm>
            <a:off x="2163097" y="304915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8A57F-71A1-C449-A3E9-70161DCD5816}"/>
              </a:ext>
            </a:extLst>
          </p:cNvPr>
          <p:cNvSpPr txBox="1"/>
          <p:nvPr/>
        </p:nvSpPr>
        <p:spPr>
          <a:xfrm>
            <a:off x="501444" y="1364201"/>
            <a:ext cx="9969910" cy="558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Feature Selection &amp; Leakage Prevention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relevant features using correlation, redundancy and domain relevance.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highly correlated or unnecessary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removal of features that directly use the target variable.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leakage-safe feature sets are prepared for each prediction task.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Predictive Modeling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and categorical features are processed using appropriate imputation, scaling and encoding techniques.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datasets are prepared using an 80:20 split, with chronological splitting for Weather data.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Regression, Decision Tree Regression and Random Forest Regression are trained for all three domains.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predictions are generated on unseen test data.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Model Evaluation &amp; Selection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evaluated using MAE, MSE, RMSE and R² Score.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three algorithms is compared independently for each domain.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best-performing baseline model is selected for Air Quality, Weather and Energy.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models are saved for further hybrid modeling and deployment.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6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F8D7-070C-A303-96A0-AA015BF5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ECBA26-266A-9861-CD1C-A765D1DC2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7C2830-6CDD-0E07-72B1-3B7A95DDCAA5}"/>
              </a:ext>
            </a:extLst>
          </p:cNvPr>
          <p:cNvSpPr txBox="1"/>
          <p:nvPr/>
        </p:nvSpPr>
        <p:spPr>
          <a:xfrm>
            <a:off x="2163097" y="304915"/>
            <a:ext cx="7511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08C8A-1827-5905-B545-C7007E289764}"/>
              </a:ext>
            </a:extLst>
          </p:cNvPr>
          <p:cNvSpPr txBox="1"/>
          <p:nvPr/>
        </p:nvSpPr>
        <p:spPr>
          <a:xfrm>
            <a:off x="501444" y="1364201"/>
            <a:ext cx="9842091" cy="591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Proposed Hybrid Modeling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baseline model first generates the domain prediction.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residual error between actual and predicted values is calculated.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secondary model learns the patterns in these residual errors.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residual is added to the base prediction to obtain the hybrid prediction.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and hybrid models are compared to determine whether prediction accuracy improves.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Explainability &amp; Error Analysis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is applied to identify the contribution of individual features to model predictions.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Feature-importance and SHAP summary visualizations are generated for each domain.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analysis is used to examine remaining prediction errors.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analysis provides an error-aware explanation of model behavior.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Decision Support &amp; Dashboard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predictions are converted into interpretable smart-city conditions using justified criteria.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decision-support information and recommendations are generated.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Streamlit dashboard provides interactive prediction and visualization for all three domains.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Predictions, model performance and SHAP explanations are presented through the dashboard.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96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F122-50D5-5045-13FB-219BB7FE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4E7C22-C9BD-6E74-074D-D80AA7613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343974-B07B-6825-8D8E-3253DA847402}"/>
              </a:ext>
            </a:extLst>
          </p:cNvPr>
          <p:cNvSpPr txBox="1"/>
          <p:nvPr/>
        </p:nvSpPr>
        <p:spPr>
          <a:xfrm>
            <a:off x="2900516" y="354991"/>
            <a:ext cx="6607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CD66A-2FB1-A70E-A3C7-A8B351FA9429}"/>
              </a:ext>
            </a:extLst>
          </p:cNvPr>
          <p:cNvSpPr txBox="1"/>
          <p:nvPr/>
        </p:nvSpPr>
        <p:spPr>
          <a:xfrm>
            <a:off x="973393" y="1288026"/>
            <a:ext cx="106286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| Weather | Energy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↓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| Inspection | Cleaning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Engine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| Correlation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↓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| Feature Selection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↓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Layer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| ML Models | Prediction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&amp; Visualization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| SHAP | Dashboard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Insights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DBC009-AF9B-7F33-0161-594E1D98D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853" y="1307690"/>
            <a:ext cx="3476657" cy="52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3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36FC-A6CA-3672-4D9A-5586622C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CB59E2-0E31-F770-8C25-FBD32E9FE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" y="0"/>
            <a:ext cx="1782977" cy="8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25B130-48C7-CCE9-3AE2-D75339A059C8}"/>
              </a:ext>
            </a:extLst>
          </p:cNvPr>
          <p:cNvSpPr txBox="1"/>
          <p:nvPr/>
        </p:nvSpPr>
        <p:spPr>
          <a:xfrm>
            <a:off x="2664543" y="247336"/>
            <a:ext cx="7285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Tools &amp; Technologies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D1D134-3043-B85F-35D1-1BB260679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66463"/>
              </p:ext>
            </p:extLst>
          </p:nvPr>
        </p:nvGraphicFramePr>
        <p:xfrm>
          <a:off x="540774" y="1364201"/>
          <a:ext cx="11149782" cy="510583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43217859"/>
                    </a:ext>
                  </a:extLst>
                </a:gridCol>
                <a:gridCol w="3451123">
                  <a:extLst>
                    <a:ext uri="{9D8B030D-6E8A-4147-A177-3AD203B41FA5}">
                      <a16:colId xmlns:a16="http://schemas.microsoft.com/office/drawing/2014/main" val="633451105"/>
                    </a:ext>
                  </a:extLst>
                </a:gridCol>
                <a:gridCol w="4650659">
                  <a:extLst>
                    <a:ext uri="{9D8B030D-6E8A-4147-A177-3AD203B41FA5}">
                      <a16:colId xmlns:a16="http://schemas.microsoft.com/office/drawing/2014/main" val="1200054879"/>
                    </a:ext>
                  </a:extLst>
                </a:gridCol>
              </a:tblGrid>
              <a:tr h="4547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51802" marR="51802" marT="25901" marB="25901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/ Technology</a:t>
                      </a:r>
                    </a:p>
                  </a:txBody>
                  <a:tcPr marL="51802" marR="51802" marT="25901" marB="25901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in the Project</a:t>
                      </a:r>
                    </a:p>
                  </a:txBody>
                  <a:tcPr marL="51802" marR="51802" marT="25901" marB="25901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848532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language for data analysis, preprocessing and project implementation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489861072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Jupyter Notebook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development, analysis and experimentation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1865278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Organized project implementation and management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368802604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loading, cleaning, transformation and analysis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789633599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Computing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operations and array-based computation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507928665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Histograms, box plots and analytical visualizations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58008059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plots, correlation analysis and heatmaps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003629467"/>
                  </a:ext>
                </a:extLst>
              </a:tr>
              <a:tr h="295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and handling of the project datasets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04641569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development, prediction and performance evaluation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39812652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 and explanation of machine-learning predictions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991686252"/>
                  </a:ext>
                </a:extLst>
              </a:tr>
              <a:tr h="43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/ Visualization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Dashboard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 of analytical insights and model results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53094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6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B9A4-85EE-BCFE-5097-14E369A3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1BEC83-7B10-01BC-2757-4D405BDC6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A47CB2-6F0E-79C0-38A0-564E5919534B}"/>
              </a:ext>
            </a:extLst>
          </p:cNvPr>
          <p:cNvSpPr txBox="1"/>
          <p:nvPr/>
        </p:nvSpPr>
        <p:spPr>
          <a:xfrm>
            <a:off x="2989006" y="501445"/>
            <a:ext cx="7039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49B83-2A85-B72F-2CB8-45F90430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364201"/>
            <a:ext cx="9615947" cy="459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9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1AD9-6F3E-89DF-F0C6-CA12D517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CB988D-C7BC-4E1A-4A5A-20F8B8885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AEC193-DA6E-787F-AD35-FD63F9C7D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06" y="1364201"/>
            <a:ext cx="9871588" cy="447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5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0BCE-D027-D745-F8AD-E7F76F49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1874F5-06BA-EF38-AE02-318AF2EDA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F5CEAC-4FBA-835C-503E-C1A441C68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1" y="1364201"/>
            <a:ext cx="10323871" cy="476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7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B367-572E-26B4-BBF6-EF63CDAF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0387CA-78ED-3E1B-722C-1FBD0744E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496B97-D48F-AEEF-846D-73C061E68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58" y="1364202"/>
            <a:ext cx="10068231" cy="486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19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AB741-02AC-C151-41B9-1C53C482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698B7D-A12C-DE9C-26FD-EF5EF47D9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087777" cy="1046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967C39-7028-E3BD-BD02-68F5D093FED3}"/>
              </a:ext>
            </a:extLst>
          </p:cNvPr>
          <p:cNvSpPr txBox="1"/>
          <p:nvPr/>
        </p:nvSpPr>
        <p:spPr>
          <a:xfrm>
            <a:off x="2762864" y="414511"/>
            <a:ext cx="6666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5DC00-9A2A-DBEF-DC80-7875CA0D7041}"/>
              </a:ext>
            </a:extLst>
          </p:cNvPr>
          <p:cNvSpPr txBox="1"/>
          <p:nvPr/>
        </p:nvSpPr>
        <p:spPr>
          <a:xfrm>
            <a:off x="639096" y="1157593"/>
            <a:ext cx="11159613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cleaned all three datasets by handling missing values, duplicates, and invalid records.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clean datasets ready for analysis.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data distributions, patterns, outliers, and correlations.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highly correlated and redundant features.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meaningful domain-specific features for Air Quality, Weather, and Energy datasets.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feature redundancy using correlation analysis (|r| &gt; 0.85).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and avoided potential target leakage.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→ EDA Insights → Engineered Features → Selected Features → Ready for Predictive Modeling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7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5A114-12B5-A578-692F-CE08F7B8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46BB00-43F2-842F-D776-A59BDB57A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7A7956-B1E1-CA6E-5270-9A8F6EE3E9AE}"/>
              </a:ext>
            </a:extLst>
          </p:cNvPr>
          <p:cNvSpPr txBox="1"/>
          <p:nvPr/>
        </p:nvSpPr>
        <p:spPr>
          <a:xfrm>
            <a:off x="3412539" y="550607"/>
            <a:ext cx="581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4A63D-0799-B7BB-9FDF-DCBACDAC10D2}"/>
              </a:ext>
            </a:extLst>
          </p:cNvPr>
          <p:cNvSpPr txBox="1"/>
          <p:nvPr/>
        </p:nvSpPr>
        <p:spPr>
          <a:xfrm>
            <a:off x="658761" y="1543665"/>
            <a:ext cx="1109078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models will be evaluated and compared based on their ability to generate accurate and reliable predictions.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average prediction error. 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Penalizes larger errors more heavily. 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error in the target’s original scale. 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well the model explains the target variation.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ML models will be trained and compared using these metrics.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Selection: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best-performing model will be selected for prediction and explainability.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Features → Model Training → Prediction → Evaluation → Best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456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442C4-A78F-32B3-C5CB-96E7DBBA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4AA017-7C37-B150-9D54-147C7906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7" y="111154"/>
            <a:ext cx="2499986" cy="125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216C2D-D764-2C86-F51A-31F3B487D60D}"/>
              </a:ext>
            </a:extLst>
          </p:cNvPr>
          <p:cNvSpPr txBox="1"/>
          <p:nvPr/>
        </p:nvSpPr>
        <p:spPr>
          <a:xfrm>
            <a:off x="1504335" y="2812026"/>
            <a:ext cx="9026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6899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969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Priya Kodali</dc:creator>
  <cp:lastModifiedBy>Vishnu Priya Kodali</cp:lastModifiedBy>
  <cp:revision>4</cp:revision>
  <dcterms:created xsi:type="dcterms:W3CDTF">2026-09-12T08:39:22Z</dcterms:created>
  <dcterms:modified xsi:type="dcterms:W3CDTF">2026-09-17T09:12:17Z</dcterms:modified>
</cp:coreProperties>
</file>